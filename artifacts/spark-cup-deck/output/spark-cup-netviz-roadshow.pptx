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项目制收入</c:v>
                </c:pt>
              </c:strCache>
            </c:strRef>
          </c:tx>
          <c:spPr>
            <a:solidFill>
              <a:srgbClr val="27E8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56</c:v>
                </c:pt>
                <c:pt idx="2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授权与服务收入</c:v>
                </c:pt>
              </c:strCache>
            </c:strRef>
          </c:tx>
          <c:spPr>
            <a:solidFill>
              <a:srgbClr val="31D7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42</c:v>
                </c:pt>
                <c:pt idx="2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react-projects\net-visualization\artifacts\spark-cup-deck\assets\network-ops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8111F">
              <a:alpha val="93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>
              <a:alpha val="84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914400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物联慧眼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03504" y="1700784"/>
            <a:ext cx="4983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三层异构网络态势感知与可视化平台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12648" y="2395728"/>
            <a:ext cx="1490472" cy="0"/>
          </a:xfrm>
          <a:prstGeom prst="line">
            <a:avLst/>
          </a:prstGeom>
          <a:noFill/>
          <a:ln w="38100">
            <a:solidFill>
              <a:srgbClr val="27E8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2578608"/>
            <a:ext cx="4892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面向应急通信、校园/园区专网、物联网运维的实时网络态势操作系统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" y="3429000"/>
            <a:ext cx="2240280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3497580"/>
            <a:ext cx="20939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星火杯版本 | Git ee715bc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063240" y="3429000"/>
            <a:ext cx="2926080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36392" y="3497580"/>
            <a:ext cx="27797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中国国际大学生创新创业大赛路演稿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621792" y="5797296"/>
            <a:ext cx="5120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参赛赛道/组别：待填写    推荐院系：待填写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621792" y="6126480"/>
            <a:ext cx="5120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负责人：待填写    手机：待填写    QQ：待填写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真实痛点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异构网络越复杂，态势盲区越先出现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多层通信网络已经从“单网监控”走向“跨层协同”，但运维工具仍停留在割裂视图。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84832"/>
            <a:ext cx="3291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客户现场常见三类断点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2688336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15184"/>
            <a:ext cx="4507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骨干、Ad hoc、接入与终端状态分散，故障定位依赖人工拼图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401568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28416"/>
            <a:ext cx="4507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链路质量、告警、拓扑变化不能同步，事件可见性滞后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4114800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41648"/>
            <a:ext cx="4507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事后复盘缺少历史快照，演练和责任分析难以闭环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874520"/>
            <a:ext cx="5349240" cy="356616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688336"/>
            <a:ext cx="2148840" cy="0"/>
          </a:xfrm>
          <a:prstGeom prst="line">
            <a:avLst/>
          </a:prstGeom>
          <a:noFill/>
          <a:ln w="27940">
            <a:solidFill>
              <a:srgbClr val="31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852928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网络运维人员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218688"/>
            <a:ext cx="2148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快速发现故障、定位影响范围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8778240" y="2688336"/>
            <a:ext cx="2148840" cy="0"/>
          </a:xfrm>
          <a:prstGeom prst="line">
            <a:avLst/>
          </a:prstGeom>
          <a:noFill/>
          <a:ln w="27940">
            <a:solidFill>
              <a:srgbClr val="FF5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2852928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安全分析人员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78240" y="3218688"/>
            <a:ext cx="2148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追踪异常传播和风险链路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400800" y="3886200"/>
            <a:ext cx="2148840" cy="0"/>
          </a:xfrm>
          <a:prstGeom prst="line">
            <a:avLst/>
          </a:prstGeom>
          <a:noFill/>
          <a:ln w="2794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050792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网络规划人员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4416552"/>
            <a:ext cx="2148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评估容量与覆盖薄弱点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778240" y="3886200"/>
            <a:ext cx="2148840" cy="0"/>
          </a:xfrm>
          <a:prstGeom prst="line">
            <a:avLst/>
          </a:prstGeom>
          <a:noFill/>
          <a:ln w="27940">
            <a:solidFill>
              <a:srgbClr val="27E8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4050792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778240" y="4416552"/>
            <a:ext cx="2148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维护拓扑、接口和事件数据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713232" y="5669280"/>
            <a:ext cx="9966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评委听点：不是“做一张地图”，而是把割裂网络数据变成可操作、可复盘、可交付的态势平台。</a:t>
            </a:r>
            <a:endParaRPr lang="en-US" sz="1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产品定位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一个平台完成建模、监控、分析、回放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从节点和链路数据进入，到态势判断和历史复盘输出，形成完整闭环。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48840"/>
            <a:ext cx="2176272" cy="192024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271576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统一建模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3136392"/>
            <a:ext cx="17922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/ Link / CrossLayerRelation / Event / Snapshot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044952" y="3108960"/>
            <a:ext cx="402336" cy="320040"/>
          </a:xfrm>
          <a:prstGeom prst="line">
            <a:avLst/>
          </a:prstGeom>
          <a:noFill/>
          <a:ln w="17780">
            <a:solidFill>
              <a:srgbClr val="27E8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468880"/>
            <a:ext cx="2176272" cy="192024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67004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30752" y="303580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实时更新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30752" y="3456432"/>
            <a:ext cx="17922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+ WebSocket + Python 快照适配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833872" y="3429000"/>
            <a:ext cx="402336" cy="-320040"/>
          </a:xfrm>
          <a:prstGeom prst="line">
            <a:avLst/>
          </a:prstGeom>
          <a:noFill/>
          <a:ln w="17780">
            <a:solidFill>
              <a:srgbClr val="27E8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148840"/>
            <a:ext cx="2176272" cy="192024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271576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态势可视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3136392"/>
            <a:ext cx="17922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/ 3D 地图、过滤搜索、详情联动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8622792" y="3108960"/>
            <a:ext cx="402336" cy="320040"/>
          </a:xfrm>
          <a:prstGeom prst="line">
            <a:avLst/>
          </a:prstGeom>
          <a:noFill/>
          <a:ln w="17780">
            <a:solidFill>
              <a:srgbClr val="27E8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468880"/>
            <a:ext cx="2176272" cy="192024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8592" y="267004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08592" y="303580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分析决策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08592" y="3456432"/>
            <a:ext cx="17922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连通性、最短路径、告警关联、历史回放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914400" y="5166360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4400" y="5568696"/>
            <a:ext cx="16642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当前演示节点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51760" y="5166360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2651760" y="5568696"/>
            <a:ext cx="16642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当前演示链路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0" y="5166360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69%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4389120" y="5568696"/>
            <a:ext cx="16642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网络健康度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5166360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55.8ms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6126480" y="5568696"/>
            <a:ext cx="16642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平均时延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28432" y="5166360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4.29%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8028432" y="5568696"/>
            <a:ext cx="16642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平均丢包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技术架构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前端负责态势表达，后端负责模型与事件组织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 React + Leaflet / Node.js / REST + WebSocket 的推荐技术栈，利于答辩演示和后续扩展。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84832"/>
            <a:ext cx="2331720" cy="361188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18304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采集与数据层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68096" y="2980944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907792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场景生成器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68096" y="3493008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419856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snapshot / metrics / event 文件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68096" y="4005072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931920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动态节点和链路模拟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447288" y="2084832"/>
            <a:ext cx="2331720" cy="361188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服务与模型层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648456" y="2980944"/>
            <a:ext cx="73152" cy="73152"/>
          </a:xfrm>
          <a:prstGeom prst="roundRect">
            <a:avLst/>
          </a:prstGeom>
          <a:solidFill>
            <a:srgbClr val="31D7FF"/>
          </a:solidFill>
          <a:ln w="12700">
            <a:solidFill>
              <a:srgbClr val="31D7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9624" y="2907792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REST 服务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648456" y="3493008"/>
            <a:ext cx="73152" cy="73152"/>
          </a:xfrm>
          <a:prstGeom prst="roundRect">
            <a:avLst/>
          </a:prstGeom>
          <a:solidFill>
            <a:srgbClr val="31D7FF"/>
          </a:solidFill>
          <a:ln w="12700">
            <a:solidFill>
              <a:srgbClr val="31D7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3419856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统一拓扑仓储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648456" y="4005072"/>
            <a:ext cx="73152" cy="73152"/>
          </a:xfrm>
          <a:prstGeom prst="roundRect">
            <a:avLst/>
          </a:prstGeom>
          <a:solidFill>
            <a:srgbClr val="31D7FF"/>
          </a:solidFill>
          <a:ln w="12700">
            <a:solidFill>
              <a:srgbClr val="31D7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9624" y="3931920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告警推导与历史帧缓存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327648" y="2084832"/>
            <a:ext cx="2331720" cy="361188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18304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接口与通信层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28816" y="2980944"/>
            <a:ext cx="73152" cy="7315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2907792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/api/topology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528816" y="3493008"/>
            <a:ext cx="73152" cy="7315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3419856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/api/situation/current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528816" y="4005072"/>
            <a:ext cx="73152" cy="7315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3931920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/api/topology/events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208008" y="2084832"/>
            <a:ext cx="2331720" cy="361188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90888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可视分析层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9409176" y="2980944"/>
            <a:ext cx="73152" cy="73152"/>
          </a:xfrm>
          <a:prstGeom prst="roundRect">
            <a:avLst/>
          </a:prstGeom>
          <a:solidFill>
            <a:srgbClr val="7AE7FF"/>
          </a:solidFill>
          <a:ln w="12700">
            <a:solidFill>
              <a:srgbClr val="7AE7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10344" y="2907792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Leaflet 地图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9409176" y="3493008"/>
            <a:ext cx="73152" cy="73152"/>
          </a:xfrm>
          <a:prstGeom prst="roundRect">
            <a:avLst/>
          </a:prstGeom>
          <a:solidFill>
            <a:srgbClr val="7AE7FF"/>
          </a:solidFill>
          <a:ln w="12700">
            <a:solidFill>
              <a:srgbClr val="7AE7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0344" y="3419856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/ 3D 模式切换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9409176" y="4005072"/>
            <a:ext cx="73152" cy="73152"/>
          </a:xfrm>
          <a:prstGeom prst="roundRect">
            <a:avLst/>
          </a:prstGeom>
          <a:solidFill>
            <a:srgbClr val="7AE7FF"/>
          </a:solidFill>
          <a:ln w="12700">
            <a:solidFill>
              <a:srgbClr val="7AE7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10344" y="3931920"/>
            <a:ext cx="1773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过滤、搜索、回放、路径分析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914400" y="5897880"/>
            <a:ext cx="9784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版本化消息信封：type / version / timestamp / trace_id / payload，便于实时更新和回放一致性。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原型证据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星火杯版本已经具备可演示闭环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截图来自当前构建产物：动态拓扑、实时指标、回放、告警与分析入口集中在一个操作台。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938528"/>
            <a:ext cx="7818120" cy="416052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pic>
        <p:nvPicPr>
          <p:cNvPr id="10" name="Image 0" descr="E:\react-projects\net-visualization\artifacts\spark-cup-deck\assets\product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48256"/>
            <a:ext cx="7589520" cy="42702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705088" y="2011680"/>
            <a:ext cx="2670048" cy="338328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97696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当前能力清单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015984" y="2889504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17152" y="2816352"/>
            <a:ext cx="18562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节点/链路/跨层关系统一展示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9015984" y="3328416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17152" y="3255264"/>
            <a:ext cx="18562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实时轮询与事件列表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9015984" y="3767328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17152" y="3694176"/>
            <a:ext cx="18562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历史帧回放与播放状态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9015984" y="4206240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17152" y="4133088"/>
            <a:ext cx="18562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连通性与最短路径分析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9015984" y="4645152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17152" y="4572000"/>
            <a:ext cx="18562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动态节点增删命令通道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8997696" y="504748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构建验证：npm run build 已通过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核心创新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把“网络图”升级为“可计算的态势模型”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创新点不止在可视化界面，而在跨层关系、事件驱动和可复盘数据组织。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084832"/>
            <a:ext cx="4434840" cy="0"/>
          </a:xfrm>
          <a:prstGeom prst="line">
            <a:avLst/>
          </a:prstGeom>
          <a:noFill/>
          <a:ln w="30480">
            <a:solidFill>
              <a:srgbClr val="27E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86000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跨层关系一等建模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CrossLayerRelation 不再只是 UI 连线，而是可查询、可推导、可分析的数据实体。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281928" y="2084832"/>
            <a:ext cx="4434840" cy="0"/>
          </a:xfrm>
          <a:prstGeom prst="line">
            <a:avLst/>
          </a:prstGeom>
          <a:noFill/>
          <a:ln w="30480">
            <a:solidFill>
              <a:srgbClr val="31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2286000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事件驱动态势快照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1928" y="2743200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拓扑变化、指标变化、告警变化进入统一时间轴，为回放和复盘提供数据基础。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49808" y="3803904"/>
            <a:ext cx="4434840" cy="0"/>
          </a:xfrm>
          <a:prstGeom prst="line">
            <a:avLst/>
          </a:prstGeom>
          <a:noFill/>
          <a:ln w="3048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面向决策的图分析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4462272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连通性分析与时延加权最短路径，把“哪里坏了”推进到“影响什么”。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81928" y="3803904"/>
            <a:ext cx="4434840" cy="0"/>
          </a:xfrm>
          <a:prstGeom prst="line">
            <a:avLst/>
          </a:prstGeom>
          <a:noFill/>
          <a:ln w="30480">
            <a:solidFill>
              <a:srgbClr val="FF5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可演练动态仿真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1928" y="4462272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生成器和命令队列支持动态节点、链路劣化、节点上下线等场景验证。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49808" y="5870448"/>
            <a:ext cx="7589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对应大赛评审：问题导向、创新成效、专业知识与商业价值转化。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499616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35331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市场与客户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先从高价值专网场景切入，再扩展到行业化运维平台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产品适合“网络结构复杂、链路环境变化快、需要演练复盘”的组织。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304288"/>
            <a:ext cx="2240280" cy="2852928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670048"/>
            <a:ext cx="19019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应急通信与演练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3218688"/>
            <a:ext cx="18470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临时组网、无人机中继、卫星回传，要求快速态势感知与复盘。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77824" y="4681728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切入级别 1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502152" y="2304288"/>
            <a:ext cx="2240280" cy="2852928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670048"/>
            <a:ext cx="19019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高校/园区专网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66744" y="3218688"/>
            <a:ext cx="18470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 IoT、安防、边缘节点、实验平台，适合试点和示范。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666744" y="4681728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切入级别 2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91072" y="2304288"/>
            <a:ext cx="2240280" cy="2852928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2670048"/>
            <a:ext cx="19019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能源/交通/工业物联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3218688"/>
            <a:ext cx="18470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远程站点、无线回传、链路质量波动，需要集中运维。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455664" y="4681728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切入级别 3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079992" y="2304288"/>
            <a:ext cx="2240280" cy="2852928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2670048"/>
            <a:ext cx="19019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运营商边缘网络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44584" y="3218688"/>
            <a:ext cx="18470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多接入边缘、专线与无线协同，适合做模块化集成。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9244584" y="4681728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切入级别 4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49808" y="5705856"/>
            <a:ext cx="9966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商业判断：先卖“可部署原型 + 定制场景包”，再沉淀为可复用模块和年度运维服务。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商业模式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原型交付、模块授权、运维服务三条收入线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创意阶段以项目制验证客户价值，成熟后转为平台化授权与行业方案复制。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103120"/>
            <a:ext cx="3017520" cy="0"/>
          </a:xfrm>
          <a:prstGeom prst="line">
            <a:avLst/>
          </a:prstGeom>
          <a:noFill/>
          <a:ln w="27940">
            <a:solidFill>
              <a:srgbClr val="27E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67712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项目制交付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633472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面向学校/园区/实验室提供私有化部署、定制拓扑场景和演示大屏。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3017520" cy="0"/>
          </a:xfrm>
          <a:prstGeom prst="line">
            <a:avLst/>
          </a:prstGeom>
          <a:noFill/>
          <a:ln w="27940">
            <a:solidFill>
              <a:srgbClr val="31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267712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模块化授权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2633472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按拓扑建模、告警联动、历史回放、分析算法模块进行授权。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017520" cy="0"/>
          </a:xfrm>
          <a:prstGeom prst="line">
            <a:avLst/>
          </a:prstGeom>
          <a:noFill/>
          <a:ln w="2794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267712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运维订阅服务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2633472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年度维护、数据适配、演练脚本、二次开发支持和培训服务。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960120" y="4096512"/>
            <a:ext cx="10012680" cy="123444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370832"/>
            <a:ext cx="4937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收费模型建议（可在赛前按实际团队资源调整）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4791456"/>
            <a:ext cx="8961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试点：3-8 万元/项目    私有化部署：10-30 万元/套    年度服务：软件合同额 15%-25%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5596128"/>
            <a:ext cx="8321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重点包装：项目符合“科技成果转化 + 商业/社会价值”的评分语言，同时保留学生团队可执行性。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499616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35331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竞品与差异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不是替代所有网管，而是补齐“跨层态势 + 回放演练”空白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与传统网管、GIS 可视化、开源地图和 IoT 平台相比，本项目更适合教学科研与专网演练场景。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84832"/>
            <a:ext cx="2011680" cy="420624"/>
          </a:xfrm>
          <a:prstGeom prst="rect">
            <a:avLst/>
          </a:prstGeom>
          <a:solidFill>
            <a:srgbClr val="18304C"/>
          </a:solidFill>
          <a:ln w="12700">
            <a:solidFill>
              <a:srgbClr val="18304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18653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670048" y="2084832"/>
            <a:ext cx="1965960" cy="420624"/>
          </a:xfrm>
          <a:prstGeom prst="rect">
            <a:avLst/>
          </a:prstGeom>
          <a:solidFill>
            <a:srgbClr val="18304C"/>
          </a:solidFill>
          <a:ln w="12700">
            <a:solidFill>
              <a:srgbClr val="18304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194560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传统网管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636008" y="2084832"/>
            <a:ext cx="1965960" cy="420624"/>
          </a:xfrm>
          <a:prstGeom prst="rect">
            <a:avLst/>
          </a:prstGeom>
          <a:solidFill>
            <a:srgbClr val="18304C"/>
          </a:solidFill>
          <a:ln w="12700">
            <a:solidFill>
              <a:srgbClr val="18304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94560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GIS/地图系统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601968" y="2084832"/>
            <a:ext cx="1965960" cy="420624"/>
          </a:xfrm>
          <a:prstGeom prst="rect">
            <a:avLst/>
          </a:prstGeom>
          <a:solidFill>
            <a:srgbClr val="18304C"/>
          </a:solidFill>
          <a:ln w="12700">
            <a:solidFill>
              <a:srgbClr val="18304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194560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 平台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567928" y="2084832"/>
            <a:ext cx="2057400" cy="420624"/>
          </a:xfrm>
          <a:prstGeom prst="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194560"/>
            <a:ext cx="1911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58368" y="2560320"/>
            <a:ext cx="201168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97480"/>
            <a:ext cx="18653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跨层建模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0048" y="2560320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697480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6008" y="2560320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697480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01968" y="2560320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697480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67928" y="2560320"/>
            <a:ext cx="2057400" cy="457200"/>
          </a:xfrm>
          <a:prstGeom prst="rect">
            <a:avLst/>
          </a:prstGeom>
          <a:solidFill>
            <a:srgbClr val="18304C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2697480"/>
            <a:ext cx="1911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3127248"/>
            <a:ext cx="201168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264408"/>
            <a:ext cx="18653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实时事件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0048" y="3127248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264408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36008" y="3127248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264408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01968" y="3127248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264408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567928" y="3127248"/>
            <a:ext cx="2057400" cy="457200"/>
          </a:xfrm>
          <a:prstGeom prst="rect">
            <a:avLst/>
          </a:prstGeom>
          <a:solidFill>
            <a:srgbClr val="18304C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3264408"/>
            <a:ext cx="1911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" y="3694176"/>
            <a:ext cx="201168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831336"/>
            <a:ext cx="18653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历史回放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70048" y="3694176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3831336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36008" y="3694176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831336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01968" y="3694176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3831336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567928" y="3694176"/>
            <a:ext cx="2057400" cy="457200"/>
          </a:xfrm>
          <a:prstGeom prst="rect">
            <a:avLst/>
          </a:prstGeom>
          <a:solidFill>
            <a:srgbClr val="18304C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41080" y="3831336"/>
            <a:ext cx="1911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8368" y="4261104"/>
            <a:ext cx="201168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4398264"/>
            <a:ext cx="18653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可二次开发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670048" y="4261104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0" y="4398264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36008" y="4261104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4398264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01968" y="4261104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4398264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567928" y="4261104"/>
            <a:ext cx="2057400" cy="457200"/>
          </a:xfrm>
          <a:prstGeom prst="rect">
            <a:avLst/>
          </a:prstGeom>
          <a:solidFill>
            <a:srgbClr val="18304C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41080" y="4398264"/>
            <a:ext cx="1911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58368" y="4828032"/>
            <a:ext cx="201168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965192"/>
            <a:ext cx="18653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学生团队可演示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670048" y="4828032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0" y="4965192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36008" y="4828032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4965192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601968" y="4828032"/>
            <a:ext cx="1965960" cy="457200"/>
          </a:xfrm>
          <a:prstGeom prst="rect">
            <a:avLst/>
          </a:prstGeom>
          <a:solidFill>
            <a:srgbClr val="12243A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0" y="4965192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567928" y="4828032"/>
            <a:ext cx="2057400" cy="457200"/>
          </a:xfrm>
          <a:prstGeom prst="rect">
            <a:avLst/>
          </a:prstGeom>
          <a:solidFill>
            <a:srgbClr val="18304C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41080" y="4965192"/>
            <a:ext cx="1911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49808" y="5715000"/>
            <a:ext cx="9784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差异化结论：围绕异构网络原型验证和教学科研答辩，本项目的轻量、可解释、可扩展比重型商业网管更有优势。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落地路径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用三类试点把原型跑成可信产品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比赛阶段重在证明“能跑、能讲、能卖、能迭代”。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赛事版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59152" y="2221992"/>
            <a:ext cx="8385048" cy="0"/>
          </a:xfrm>
          <a:prstGeom prst="line">
            <a:avLst/>
          </a:prstGeom>
          <a:noFill/>
          <a:ln w="17780">
            <a:solidFill>
              <a:srgbClr val="27E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2048256"/>
            <a:ext cx="7223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完成统一模型、动态拓扑、历史回放、REST API 展示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22960" y="290779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校园试点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59152" y="3044952"/>
            <a:ext cx="8385048" cy="0"/>
          </a:xfrm>
          <a:prstGeom prst="line">
            <a:avLst/>
          </a:prstGeom>
          <a:noFill/>
          <a:ln w="17780">
            <a:solidFill>
              <a:srgbClr val="31D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871216"/>
            <a:ext cx="7223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接入实验室/校园 IoT 数据，形成真实运行样例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822960" y="373075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 行业演练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59152" y="3867912"/>
            <a:ext cx="8385048" cy="0"/>
          </a:xfrm>
          <a:prstGeom prst="line">
            <a:avLst/>
          </a:prstGeom>
          <a:noFill/>
          <a:ln w="1778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3694176"/>
            <a:ext cx="7223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面向应急通信或园区专网开发演练脚本包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822960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 商业封装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59152" y="4690872"/>
            <a:ext cx="8385048" cy="0"/>
          </a:xfrm>
          <a:prstGeom prst="line">
            <a:avLst/>
          </a:prstGeom>
          <a:noFill/>
          <a:ln w="17780">
            <a:solidFill>
              <a:srgbClr val="FF5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4517136"/>
            <a:ext cx="7223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形成部署文档、API 合同、报价单和客户案例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22960" y="5486400"/>
            <a:ext cx="9966960" cy="603504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687568"/>
            <a:ext cx="9052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近期可补材料：应用单位试用意见、软著/论文/专利证明、团队分工、指导教师与实验平台照片。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389888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243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三年预测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从试点收入到模块化复制，形成轻资产增长曲线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以下为路演测算口径，赛前可按真实团队资源、试点单位和报价进一步校准。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822960" y="2084832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315200" y="2084832"/>
            <a:ext cx="3429000" cy="329184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测算逻辑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62672" y="2980944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2907792"/>
            <a:ext cx="249631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2026：2-3 个 PoC 试点，完成模板化交付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7662672" y="3511296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3438144"/>
            <a:ext cx="249631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2027：扩展校园/园区客户，形成模块授权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662672" y="4041648"/>
            <a:ext cx="73152" cy="73152"/>
          </a:xfrm>
          <a:prstGeom prst="roundRect">
            <a:avLst/>
          </a:prstGeom>
          <a:solidFill>
            <a:srgbClr val="27E8A7"/>
          </a:solidFill>
          <a:ln w="12700">
            <a:solidFill>
              <a:srgbClr val="27E8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3968496"/>
            <a:ext cx="249631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2028：沉淀行业场景包，服务收入提升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7635240" y="4773168"/>
            <a:ext cx="2743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关键指标：毛利率随标准化提升；研发投入集中在数据适配、算法分析和部署工具链。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41248" y="5705856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单位：万元；本页为赛事商业计划测算，不代表已签约收入。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1719072" cy="310896"/>
          </a:xfrm>
          <a:prstGeom prst="roundRect">
            <a:avLst/>
          </a:prstGeom>
          <a:solidFill>
            <a:srgbClr val="0E1B2E">
              <a:alpha val="92000"/>
            </a:srgbClr>
          </a:solidFill>
          <a:ln w="12700">
            <a:solidFill>
              <a:srgbClr val="27E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07492"/>
            <a:ext cx="157276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团队与赛事补强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把技术原型包装成“可信团队 + 可落地项目”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本页保留可编辑占位，赛前把真实成员、成果、指导教师和平台资源补齐即可。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物联慧眼 | 星火杯版本路演稿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6345936"/>
            <a:ext cx="11128248" cy="0"/>
          </a:xfrm>
          <a:prstGeom prst="line">
            <a:avLst/>
          </a:prstGeom>
          <a:noFill/>
          <a:ln w="7620">
            <a:solidFill>
              <a:srgbClr val="1830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057400"/>
            <a:ext cx="4023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姓名/专业/年级/职责待填写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22960" y="2752344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技术开发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752344"/>
            <a:ext cx="4023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前端可视化、后端 API、Python 场景生成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22960" y="3447288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商业与调研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3447288"/>
            <a:ext cx="4023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市场访谈、竞品分析、财务测算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22960" y="4142232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指导资源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4142232"/>
            <a:ext cx="4023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校内导师、实验室、产业顾问待填写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903720" y="2029968"/>
            <a:ext cx="4114800" cy="246888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830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赛前必须补齐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23760" y="2871216"/>
            <a:ext cx="73152" cy="7315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798064"/>
            <a:ext cx="31363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真实市场调研访谈记录与痛点证据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223760" y="3291840"/>
            <a:ext cx="73152" cy="7315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3218688"/>
            <a:ext cx="31363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应用证明或试用截图 2-3 个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223760" y="3712464"/>
            <a:ext cx="73152" cy="7315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3639312"/>
            <a:ext cx="31363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软著、论文、专利、获奖等成果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223760" y="4133088"/>
            <a:ext cx="73152" cy="7315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4059936"/>
            <a:ext cx="31363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股权结构、融资需求、三年计划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841248" y="5413248"/>
            <a:ext cx="9555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E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收束句：我们不是做一张“漂亮地图”，而是做面向复杂网络的态势感知、快速定位和历史复盘基础平台。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Net Visualization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物联慧眼：三层异构网络态势感知与可视化平台</dc:title>
  <dc:subject>中国国际大学生创新创业大赛路演稿</dc:subject>
  <dc:creator>Codex</dc:creator>
  <cp:lastModifiedBy>Codex</cp:lastModifiedBy>
  <cp:revision>1</cp:revision>
  <dcterms:created xsi:type="dcterms:W3CDTF">2026-05-08T07:39:16Z</dcterms:created>
  <dcterms:modified xsi:type="dcterms:W3CDTF">2026-05-08T07:39:16Z</dcterms:modified>
</cp:coreProperties>
</file>